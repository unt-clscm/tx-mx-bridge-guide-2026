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5">
  <p:sldMasterIdLst>
    <p:sldMasterId id="2147483684" r:id="rId4"/>
  </p:sldMasterIdLst>
  <p:notesMasterIdLst>
    <p:notesMasterId r:id="rId15"/>
  </p:notesMasterIdLst>
  <p:sldIdLst>
    <p:sldId id="346" r:id="rId5"/>
    <p:sldId id="2561" r:id="rId6"/>
    <p:sldId id="2580" r:id="rId7"/>
    <p:sldId id="2582" r:id="rId8"/>
    <p:sldId id="2586" r:id="rId9"/>
    <p:sldId id="2588" r:id="rId10"/>
    <p:sldId id="2595" r:id="rId11"/>
    <p:sldId id="2590" r:id="rId12"/>
    <p:sldId id="2592" r:id="rId13"/>
    <p:sldId id="2594" r:id="rId14"/>
  </p:sldIdLst>
  <p:sldSz cx="9144000" cy="5148263"/>
  <p:notesSz cx="9296400" cy="7010400"/>
  <p:embeddedFontLst>
    <p:embeddedFont>
      <p:font typeface="Barlow Condensed Medium" panose="00000606000000000000" pitchFamily="2" charset="0"/>
      <p:regular r:id="rId16"/>
      <p:italic r:id="rId17"/>
    </p:embeddedFont>
    <p:embeddedFont>
      <p:font typeface="Verdana" panose="020B0604030504040204" pitchFamily="34" charset="0"/>
      <p:regular r:id="rId18"/>
      <p:bold r:id="rId19"/>
      <p:italic r:id="rId20"/>
      <p:boldItalic r:id="rId21"/>
    </p:embeddedFont>
    <p:embeddedFont>
      <p:font typeface="Verdana Bold" panose="020B0804030504040204" pitchFamily="34" charset="0"/>
      <p:bold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CC2CC8-C892-08C6-6FEC-B89DAAC3E9B7}" name="Beto Padilla" initials="BP" userId="S::humberto.padilla_txdot.gov#ext#@myunt.onmicrosoft.com::69549fd7-d62c-4a3a-896b-a05ef79e8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mba, Michael" initials="BM" lastIdx="1" clrIdx="0">
    <p:extLst>
      <p:ext uri="{19B8F6BF-5375-455C-9EA6-DF929625EA0E}">
        <p15:presenceInfo xmlns:p15="http://schemas.microsoft.com/office/powerpoint/2012/main" userId="S::Michael.Bomba@unt.edu::036312f0-ae6f-4b1b-b497-ac0d7bdeef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9"/>
    <a:srgbClr val="059033"/>
    <a:srgbClr val="D9EDFF"/>
    <a:srgbClr val="D90D0D"/>
    <a:srgbClr val="DADEE5"/>
    <a:srgbClr val="333F48"/>
    <a:srgbClr val="5F0F40"/>
    <a:srgbClr val="EBEBEB"/>
    <a:srgbClr val="002E69"/>
    <a:srgbClr val="1965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31ABF-89ED-4729-9062-CF1E169C8690}" v="1" dt="2026-02-15T23:30:31.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1" autoAdjust="0"/>
    <p:restoredTop sz="83630" autoAdjust="0"/>
  </p:normalViewPr>
  <p:slideViewPr>
    <p:cSldViewPr snapToGrid="0">
      <p:cViewPr varScale="1">
        <p:scale>
          <a:sx n="186" d="100"/>
          <a:sy n="186" d="100"/>
        </p:scale>
        <p:origin x="174" y="36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42" d="100"/>
          <a:sy n="142" d="100"/>
        </p:scale>
        <p:origin x="3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zzi, Jolanda" userId="294ad89e-1d53-4527-b712-89a5023f2887" providerId="ADAL" clId="{5839F064-6597-4122-8927-9046B8BEB434}"/>
    <pc:docChg chg="custSel addSld modSld">
      <pc:chgData name="Prozzi, Jolanda" userId="294ad89e-1d53-4527-b712-89a5023f2887" providerId="ADAL" clId="{5839F064-6597-4122-8927-9046B8BEB434}" dt="2026-02-13T03:53:34.896" v="43" actId="478"/>
      <pc:docMkLst>
        <pc:docMk/>
      </pc:docMkLst>
      <pc:sldChg chg="delSp mod">
        <pc:chgData name="Prozzi, Jolanda" userId="294ad89e-1d53-4527-b712-89a5023f2887" providerId="ADAL" clId="{5839F064-6597-4122-8927-9046B8BEB434}" dt="2026-02-13T03:53:11.106" v="39" actId="478"/>
        <pc:sldMkLst>
          <pc:docMk/>
          <pc:sldMk cId="2842845881" sldId="2580"/>
        </pc:sldMkLst>
      </pc:sldChg>
      <pc:sldChg chg="delSp mod">
        <pc:chgData name="Prozzi, Jolanda" userId="294ad89e-1d53-4527-b712-89a5023f2887" providerId="ADAL" clId="{5839F064-6597-4122-8927-9046B8BEB434}" dt="2026-02-13T03:53:15.349" v="40" actId="478"/>
        <pc:sldMkLst>
          <pc:docMk/>
          <pc:sldMk cId="3341352497" sldId="2582"/>
        </pc:sldMkLst>
      </pc:sldChg>
      <pc:sldChg chg="delSp mod">
        <pc:chgData name="Prozzi, Jolanda" userId="294ad89e-1d53-4527-b712-89a5023f2887" providerId="ADAL" clId="{5839F064-6597-4122-8927-9046B8BEB434}" dt="2026-02-13T03:53:23.107" v="41" actId="478"/>
        <pc:sldMkLst>
          <pc:docMk/>
          <pc:sldMk cId="482304970" sldId="2586"/>
        </pc:sldMkLst>
      </pc:sldChg>
      <pc:sldChg chg="delSp mod">
        <pc:chgData name="Prozzi, Jolanda" userId="294ad89e-1d53-4527-b712-89a5023f2887" providerId="ADAL" clId="{5839F064-6597-4122-8927-9046B8BEB434}" dt="2026-02-13T03:53:27.580" v="42" actId="478"/>
        <pc:sldMkLst>
          <pc:docMk/>
          <pc:sldMk cId="3541054873" sldId="2588"/>
        </pc:sldMkLst>
      </pc:sldChg>
      <pc:sldChg chg="delSp mod">
        <pc:chgData name="Prozzi, Jolanda" userId="294ad89e-1d53-4527-b712-89a5023f2887" providerId="ADAL" clId="{5839F064-6597-4122-8927-9046B8BEB434}" dt="2026-02-13T03:53:34.896" v="43" actId="478"/>
        <pc:sldMkLst>
          <pc:docMk/>
          <pc:sldMk cId="2570875129" sldId="2590"/>
        </pc:sldMkLst>
      </pc:sldChg>
      <pc:sldChg chg="delSp mod">
        <pc:chgData name="Prozzi, Jolanda" userId="294ad89e-1d53-4527-b712-89a5023f2887" providerId="ADAL" clId="{5839F064-6597-4122-8927-9046B8BEB434}" dt="2026-02-13T03:52:43.060" v="37" actId="478"/>
        <pc:sldMkLst>
          <pc:docMk/>
          <pc:sldMk cId="599273086" sldId="2592"/>
        </pc:sldMkLst>
      </pc:sldChg>
      <pc:sldChg chg="delSp mod">
        <pc:chgData name="Prozzi, Jolanda" userId="294ad89e-1d53-4527-b712-89a5023f2887" providerId="ADAL" clId="{5839F064-6597-4122-8927-9046B8BEB434}" dt="2026-02-13T03:52:47.883" v="38" actId="478"/>
        <pc:sldMkLst>
          <pc:docMk/>
          <pc:sldMk cId="438205441" sldId="2594"/>
        </pc:sldMkLst>
      </pc:sldChg>
      <pc:sldChg chg="modSp new mod">
        <pc:chgData name="Prozzi, Jolanda" userId="294ad89e-1d53-4527-b712-89a5023f2887" providerId="ADAL" clId="{5839F064-6597-4122-8927-9046B8BEB434}" dt="2026-02-10T16:09:54.565" v="36" actId="20577"/>
        <pc:sldMkLst>
          <pc:docMk/>
          <pc:sldMk cId="2534431113" sldId="2595"/>
        </pc:sldMkLst>
        <pc:spChg chg="mod">
          <ac:chgData name="Prozzi, Jolanda" userId="294ad89e-1d53-4527-b712-89a5023f2887" providerId="ADAL" clId="{5839F064-6597-4122-8927-9046B8BEB434}" dt="2026-02-10T16:09:54.565" v="36" actId="20577"/>
          <ac:spMkLst>
            <pc:docMk/>
            <pc:sldMk cId="2534431113" sldId="2595"/>
            <ac:spMk id="3" creationId="{3066ED17-FB19-471F-B84B-D067C5F3C6F1}"/>
          </ac:spMkLst>
        </pc:spChg>
      </pc:sldChg>
    </pc:docChg>
  </pc:docChgLst>
  <pc:docChgLst>
    <pc:chgData name="Ajith, Adithya" userId="3bc414a3-694b-43fa-9ed2-87cba339119e" providerId="ADAL" clId="{8911B5F1-85D4-46CF-8E80-19F08E32257F}"/>
    <pc:docChg chg="custSel modSld">
      <pc:chgData name="Ajith, Adithya" userId="3bc414a3-694b-43fa-9ed2-87cba339119e" providerId="ADAL" clId="{8911B5F1-85D4-46CF-8E80-19F08E32257F}" dt="2026-02-15T23:30:31.248" v="0" actId="27636"/>
      <pc:docMkLst>
        <pc:docMk/>
      </pc:docMkLst>
      <pc:sldChg chg="modSp mod">
        <pc:chgData name="Ajith, Adithya" userId="3bc414a3-694b-43fa-9ed2-87cba339119e" providerId="ADAL" clId="{8911B5F1-85D4-46CF-8E80-19F08E32257F}" dt="2026-02-15T23:30:31.248" v="0" actId="27636"/>
        <pc:sldMkLst>
          <pc:docMk/>
          <pc:sldMk cId="2534431113" sldId="2595"/>
        </pc:sldMkLst>
        <pc:spChg chg="mod">
          <ac:chgData name="Ajith, Adithya" userId="3bc414a3-694b-43fa-9ed2-87cba339119e" providerId="ADAL" clId="{8911B5F1-85D4-46CF-8E80-19F08E32257F}" dt="2026-02-15T23:30:31.248" v="0" actId="27636"/>
          <ac:spMkLst>
            <pc:docMk/>
            <pc:sldMk cId="2534431113" sldId="2595"/>
            <ac:spMk id="2" creationId="{B7FA2ECF-6F66-4976-990C-41E554AAB0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214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6347" y="0"/>
            <a:ext cx="4028440" cy="352143"/>
          </a:xfrm>
          <a:prstGeom prst="rect">
            <a:avLst/>
          </a:prstGeom>
        </p:spPr>
        <p:txBody>
          <a:bodyPr vert="horz" lIns="93177" tIns="46589" rIns="93177" bIns="46589" rtlCol="0"/>
          <a:lstStyle>
            <a:lvl1pPr algn="r">
              <a:defRPr sz="1200"/>
            </a:lvl1pPr>
          </a:lstStyle>
          <a:p>
            <a:fld id="{CBF53D49-0DDC-344E-AB77-B58226DB14FC}" type="datetimeFigureOut">
              <a:rPr lang="en-US" smtClean="0"/>
              <a:t>2/15/2026</a:t>
            </a:fld>
            <a:endParaRPr lang="en-US"/>
          </a:p>
        </p:txBody>
      </p:sp>
      <p:sp>
        <p:nvSpPr>
          <p:cNvPr id="4" name="Slide Image Placeholder 3"/>
          <p:cNvSpPr>
            <a:spLocks noGrp="1" noRot="1" noChangeAspect="1"/>
          </p:cNvSpPr>
          <p:nvPr>
            <p:ph type="sldImg" idx="2"/>
          </p:nvPr>
        </p:nvSpPr>
        <p:spPr>
          <a:xfrm>
            <a:off x="2547938" y="876300"/>
            <a:ext cx="4200525"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6"/>
            <a:ext cx="7437120" cy="2760344"/>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258"/>
            <a:ext cx="4028440" cy="352142"/>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6347" y="6658258"/>
            <a:ext cx="4028440" cy="352142"/>
          </a:xfrm>
          <a:prstGeom prst="rect">
            <a:avLst/>
          </a:prstGeom>
        </p:spPr>
        <p:txBody>
          <a:bodyPr vert="horz" lIns="93177" tIns="46589" rIns="93177" bIns="46589" rtlCol="0" anchor="b"/>
          <a:lstStyle>
            <a:lvl1pPr algn="r">
              <a:defRPr sz="1200"/>
            </a:lvl1pPr>
          </a:lstStyle>
          <a:p>
            <a:fld id="{731C783B-4AC7-F543-9503-53DDD025DBBC}" type="slidenum">
              <a:rPr lang="en-US" smtClean="0"/>
              <a:t>‹#›</a:t>
            </a:fld>
            <a:endParaRPr lang="en-US"/>
          </a:p>
        </p:txBody>
      </p:sp>
    </p:spTree>
    <p:extLst>
      <p:ext uri="{BB962C8B-B14F-4D97-AF65-F5344CB8AC3E}">
        <p14:creationId xmlns:p14="http://schemas.microsoft.com/office/powerpoint/2010/main" val="1721958823"/>
      </p:ext>
    </p:extLst>
  </p:cSld>
  <p:clrMap bg1="lt1" tx1="dk1" bg2="lt2" tx2="dk2" accent1="accent1" accent2="accent2" accent3="accent3" accent4="accent4" accent5="accent5" accent6="accent6" hlink="hlink" folHlink="folHlink"/>
  <p:notesStyle>
    <a:lvl1pPr marL="0" algn="l" defTabSz="685983" rtl="0" eaLnBrk="1" latinLnBrk="0" hangingPunct="1">
      <a:defRPr sz="900" kern="1200">
        <a:solidFill>
          <a:schemeClr val="tx1"/>
        </a:solidFill>
        <a:latin typeface="+mn-lt"/>
        <a:ea typeface="+mn-ea"/>
        <a:cs typeface="+mn-cs"/>
      </a:defRPr>
    </a:lvl1pPr>
    <a:lvl2pPr marL="342991" algn="l" defTabSz="685983" rtl="0" eaLnBrk="1" latinLnBrk="0" hangingPunct="1">
      <a:defRPr sz="900" kern="1200">
        <a:solidFill>
          <a:schemeClr val="tx1"/>
        </a:solidFill>
        <a:latin typeface="+mn-lt"/>
        <a:ea typeface="+mn-ea"/>
        <a:cs typeface="+mn-cs"/>
      </a:defRPr>
    </a:lvl2pPr>
    <a:lvl3pPr marL="685983" algn="l" defTabSz="685983" rtl="0" eaLnBrk="1" latinLnBrk="0" hangingPunct="1">
      <a:defRPr sz="900" kern="1200">
        <a:solidFill>
          <a:schemeClr val="tx1"/>
        </a:solidFill>
        <a:latin typeface="+mn-lt"/>
        <a:ea typeface="+mn-ea"/>
        <a:cs typeface="+mn-cs"/>
      </a:defRPr>
    </a:lvl3pPr>
    <a:lvl4pPr marL="1028974" algn="l" defTabSz="685983" rtl="0" eaLnBrk="1" latinLnBrk="0" hangingPunct="1">
      <a:defRPr sz="900" kern="1200">
        <a:solidFill>
          <a:schemeClr val="tx1"/>
        </a:solidFill>
        <a:latin typeface="+mn-lt"/>
        <a:ea typeface="+mn-ea"/>
        <a:cs typeface="+mn-cs"/>
      </a:defRPr>
    </a:lvl4pPr>
    <a:lvl5pPr marL="1371966" algn="l" defTabSz="685983" rtl="0" eaLnBrk="1" latinLnBrk="0" hangingPunct="1">
      <a:defRPr sz="9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9047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Website Development Plan for the 2026 Texas–Mexico International Border Crossings Guide outlines a comprehensive approach to unifying multiple content sources into a single, authoritative digital platform. This plan responds to the need for a centralized resource that integrates ArcGIS StoryMaps, PDF fact sheets from the 2025 Bridge Guidebook, interactive ArcGIS Online (AGOL) maps, and Experience Builder applications. The intent is to transition from a fragmented ecosystem of disconnected files and embedded tools into a cohesive, automated, bilingual, and scalable website experience. Through a consolidated data management approach using structured CSV files, Markdown content, and centralized AGOL mapping, the project aims to eliminate redundancy, reduce inconsistencies, and enhance long-term maintainability. This platform will grant users accurate, bilingual, accessible, and interactive information about every Texas–Mexico border crossing. Its mission is to serve stakeholders—ranging from government agencies and transportation planners to commercial drivers and international travelers—with a one‑stop, data-rich, user-centered interface. Additionally, the plan emphasizes future readiness by enabling automated PDF generation, built-in visualization tools, and flexible templates that accommodate ongoing updates for new data, operational details, and bilingual content. The reimagined structure ensures that content creators can edit information directly through centralized files, developers can run efficient automated build processes, and end users can quickly access comprehensive details without navigating multiple external systems. This introductory overview slide presents the foundation for understanding the breadth and importance of the project and sets the stage for the more detailed components of the development effort.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6534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redesigned website introduces a powerful suite of features aimed at improving user experience, operational workflow, and content accessibility. At its core, the platform includes interactive region overview pages enriched with AGOL‑powered maps and smooth scroll-trigger animations that mirror the user engagement style of StoryMaps while offering significantly more customization. Each region—El Paso, Laredo, and the Rio Grande Valley—receives dedicated pages with contextual narratives, visual explanations, and direct links to individual border crossings. Every border crossing will have its own bilingual page, available in English and Spanish, featuring operational details, statistics, facility descriptions, hours, toll information, and downloadable PDF fact sheets. These automated PDFs replicate the 2–3‑page format of the 2025 Bridge Guidebook while ensuring consistency and accuracy by drawing content directly from the structured CSV data. Interactive visualizations such as tables, charts, and graphs are generated automatically from vetted datasets, ensuring users have access to current and reliable information presented in intuitive, dynamic formats. Furthermore, the website’s design accommodates automated updates from centralized data sources, enabling rapid revisions without requiring developer intervention. As the project progresses, these features will establish the website as a modern, scalable, and user-friendly resource designed to meet the diverse needs of stakeholders and the traveling public.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7200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migration process introduces several notable challenges that must be thoroughly addressed to ensure the success of the new digital platform. First, the automated generation of bilingual PDF fact sheets requires pixel‑perfect alignment that matches the established 2–3‑page format from the 2025 Bridge Guidebook. The differing lengths of English and Spanish text add complexity to layout design, demanding advanced formatting rules and extensive testing. Second, the AGOL map integration presents a technical hurdle due to the need for smooth, synchronized scroll animations across multiple region pages using a single underlying AGOL map. Achieving visually cohesive zoom and pan transitions for each region will require iterative fine‑tuning. Third, the CSV file structure must support more than 30 bilingual data fields while feeding accurate content into both webpages and PDF templates. The system must handle formatting nuances, special characters, bilingual text structures, and edge cases through robust parsing logic and error handling. Finally, migrating detailed content from the 2025 Bridge Guidebook is a labor-intensive task, requiring manual extraction, structural transformation, and close verification for accuracy and completeness. This includes converting narrative descriptions, operational data, and Quick Facts into structured formats suitable for automated builds. These challenges, though significant, are manageable through methodical planning, testing, and validation, ensuring that the resulting website is accurate, reliable, and technically sound.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39413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content management strategy for the new website is built upon a robust three‑tier approach designed to ensure scalability, accuracy, and ease of updates. The first tier consists of the ArcGIS Online Web Map, which allows developers to update geographic data and map visuals directly within AGOL. These updates appear instantly on the website without requiring code deployments, making this tier ideal for live adjustments to geographic layouts, coordinates, and popup content. The second tier is the CSV dataset, which stores highly structured information such as crossing names, statistics, hours, tolls, and bilingual descriptions. This dataset is maintained by subject‑matter experts within a shared environment such as SharePoint. Once updates are finalized, developers trigger the build process to regenerate pages and PDF documents. The third tier consists of Markdown files containing long‑form narratives used throughout the website. These files allow content creators to update regional descriptions, contextual explanations, and supporting narratives without requiring technical skills. Together, these three layers form a smooth, maintainable workflow in which map updates occur instantly, data updates occur through structured regeneration, and narrative content flows seamlessly into page templates. This strategy ensures that the website remains up‑to‑date, well‑organized, and consistent across all outputs, including interactive pages and downloadable PDFs.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05895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site structure is designed to guide users through an intuitive navigation experience while providing clear access to both high-level regional information and detailed crossing-specific content. The Home Page serves as a gateway featuring a statewide overview map, introductory Quick Facts, and selected highlighted crossings. From there, users can navigate to one of the three regional overview pages—El Paso, Laredo, or Rio Grande Valley—each offering scroll‑triggered AGOL map animations, contextual narrative explanations, and organized links to individual crossing pages. Each crossing page provides bilingual content, operational details, traffic statistics, and a downloadable PDF fact sheet generated automatically from the structured data. The site also includes an integrated bilingual toggle that ensures seamless switching between English and Spanish. PDF fact sheets are standardized to match the 2025 Bridge Guidebook format and are available for all crossings. The structure supports scalability, allowing new crossings, updated data, or additional regions to be incorporated without redesigning the foundation. This systematic organization ensures a cohesive user experience that supports both casual information seekers and technical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228162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implementation timeline spans six months and is organized into six overlapping phases. Phase 1 focuses on data preparation and migration, including the creation of structured CSV templates, extraction of data from the 2025 Bridge Guidebook, population of bilingual content, and extensive accuracy review cycles. Phase 2 lays the technical foundation through project setup, architecture design, template creation, and validation logic. Phase 3 advances into core development activities such as build script creation, AGOL map integration, scroll animation setup, bilingual navigation, and the high‑precision PDF generation system. Phase 4 focuses heavily on design and alignment with TxDOT’s visual standards, including analysis of their website, CSS styling, color and typography matching, responsive design implementation, and full component library creation. Phase 5 emphasizes comprehensive testing, including QA validation, cross‑browser reviews, performance checks, PDF accuracy checks, and GitHub Pages deployment. Finally, Phase 6 encompasses client review cycles, refinement of design elements, content adjustments, and final bug resolution. The cumulative work across these phases supports a targeted public launch in early August 2026, ensuring both thorough development and high-quality deliverables.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97737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One of the most significant benefits of the new website platform is the improvement over the prior ArcGIS StoryMap‑based workflow. In the previous process, content was stored across various disconnected formats—PDFs, StoryMaps, Excel sheets, and even PowerPoint files—leading to redundancy, inconsistencies, and repeated manual edits. The new automated system replaces this fragmented approach with a single, unified structure built on CSV files and Markdown content, dramatically reducing discrepancies and manual labor. While updates once required multiple back‑and‑forth cycles between developers and content creators, the new workflow empowers content generators to directly edit CSVs and Markdown files, triggering automated builds. From a quality‑control standpoint, the shift to a single data source virtually eliminates cross‑version inconsistencies. Design limitations inherent to StoryMaps no longer constrain creative layouts; the new website offers full customization, responsive design, and a bilingual toggle for seamless translation. Scalability also improves significantly, with a multi‑page architecture that supports numerous crossings and long-form content without performance or layout limitations. Finally, automated output generation means PDFs no longer require tedious manual assembly, ensuring accuracy while saving time. The table below summarizes key differences between the old and new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7858480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Image and Sub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sp>
        <p:nvSpPr>
          <p:cNvPr id="2" name="Title 1"/>
          <p:cNvSpPr>
            <a:spLocks noGrp="1"/>
          </p:cNvSpPr>
          <p:nvPr>
            <p:ph type="ctrTitle"/>
          </p:nvPr>
        </p:nvSpPr>
        <p:spPr>
          <a:xfrm>
            <a:off x="457200" y="4039737"/>
            <a:ext cx="6665976" cy="475701"/>
          </a:xfrm>
          <a:prstGeom prst="rect">
            <a:avLst/>
          </a:prstGeom>
        </p:spPr>
        <p:txBody>
          <a:bodyPr wrap="none" lIns="0" tIns="0" rIns="0" bIns="0" anchor="b">
            <a:noAutofit/>
          </a:bodyPr>
          <a:lstStyle>
            <a:lvl1pPr algn="l">
              <a:lnSpc>
                <a:spcPct val="100000"/>
              </a:lnSpc>
              <a:defRPr sz="2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7122"/>
            <a:ext cx="6665976" cy="228600"/>
          </a:xfrm>
          <a:prstGeom prst="rect">
            <a:avLst/>
          </a:prstGeom>
        </p:spPr>
        <p:txBody>
          <a:bodyPr wrap="none" lIns="0" tIns="0" rIns="0" bIns="0">
            <a:no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15, 2026</a:t>
            </a:fld>
            <a:endParaRPr lang="en-US" sz="1000" dirty="0">
              <a:solidFill>
                <a:srgbClr val="BCE7FD"/>
              </a:solidFill>
              <a:latin typeface="+mn-lt"/>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6" name="Picture Placeholder 5">
            <a:extLst>
              <a:ext uri="{FF2B5EF4-FFF2-40B4-BE49-F238E27FC236}">
                <a16:creationId xmlns:a16="http://schemas.microsoft.com/office/drawing/2014/main" id="{9297D681-6979-610D-1988-DD7437905422}"/>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58954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and Longer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endParaRPr lang="en-US" sz="1200" dirty="0" err="1">
              <a:latin typeface="Arial" pitchFamily="34" charset="0"/>
              <a:cs typeface="Arial" pitchFamily="34" charset="0"/>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457200" y="4014216"/>
            <a:ext cx="6665976" cy="841248"/>
          </a:xfrm>
          <a:prstGeom prst="rect">
            <a:avLst/>
          </a:prstGeom>
        </p:spPr>
        <p:txBody>
          <a:bodyPr wrap="square" lIns="0" tIns="0" rIns="0" bIns="0" anchor="ctr" anchorCtr="0">
            <a:noAutofit/>
          </a:bodyPr>
          <a:lstStyle>
            <a:lvl1pPr algn="l">
              <a:defRPr sz="2400">
                <a:solidFill>
                  <a:schemeClr val="bg1"/>
                </a:solidFill>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15, 2026</a:t>
            </a:fld>
            <a:endParaRPr lang="en-US" sz="1000" dirty="0">
              <a:solidFill>
                <a:srgbClr val="BCE7FD"/>
              </a:solidFill>
              <a:latin typeface="+mn-lt"/>
            </a:endParaRPr>
          </a:p>
        </p:txBody>
      </p:sp>
      <p:sp>
        <p:nvSpPr>
          <p:cNvPr id="3" name="Picture Placeholder 5">
            <a:extLst>
              <a:ext uri="{FF2B5EF4-FFF2-40B4-BE49-F238E27FC236}">
                <a16:creationId xmlns:a16="http://schemas.microsoft.com/office/drawing/2014/main" id="{7593ED4F-ECDC-36E8-7E33-54BD57010E27}"/>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162810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OUT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B9F2E4-EBAA-496A-3A84-89E9137EF31E}"/>
              </a:ext>
            </a:extLst>
          </p:cNvPr>
          <p:cNvSpPr>
            <a:spLocks/>
          </p:cNvSpPr>
          <p:nvPr userDrawn="1"/>
        </p:nvSpPr>
        <p:spPr>
          <a:xfrm>
            <a:off x="-9145" y="-9144"/>
            <a:ext cx="9162288" cy="5166360"/>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pic>
        <p:nvPicPr>
          <p:cNvPr id="5" name="Picture 4">
            <a:extLst>
              <a:ext uri="{FF2B5EF4-FFF2-40B4-BE49-F238E27FC236}">
                <a16:creationId xmlns:a16="http://schemas.microsoft.com/office/drawing/2014/main" id="{FD8C8299-F83F-D714-FFDE-A89D5626D3F5}"/>
              </a:ext>
            </a:extLst>
          </p:cNvPr>
          <p:cNvPicPr>
            <a:picLocks noChangeAspect="1"/>
          </p:cNvPicPr>
          <p:nvPr userDrawn="1"/>
        </p:nvPicPr>
        <p:blipFill>
          <a:blip r:embed="rId2"/>
          <a:srcRect/>
          <a:stretch/>
        </p:blipFill>
        <p:spPr>
          <a:xfrm>
            <a:off x="-9144" y="0"/>
            <a:ext cx="9162288" cy="5159347"/>
          </a:xfrm>
          <a:prstGeom prst="rect">
            <a:avLst/>
          </a:prstGeom>
        </p:spPr>
      </p:pic>
      <p:cxnSp>
        <p:nvCxnSpPr>
          <p:cNvPr id="6" name="Straight Connector 5">
            <a:extLst>
              <a:ext uri="{FF2B5EF4-FFF2-40B4-BE49-F238E27FC236}">
                <a16:creationId xmlns:a16="http://schemas.microsoft.com/office/drawing/2014/main" id="{D2C91761-A700-7455-06A4-7D583C75D31C}"/>
              </a:ext>
            </a:extLst>
          </p:cNvPr>
          <p:cNvCxnSpPr>
            <a:cxnSpLocks/>
          </p:cNvCxnSpPr>
          <p:nvPr userDrawn="1"/>
        </p:nvCxnSpPr>
        <p:spPr>
          <a:xfrm>
            <a:off x="-9145" y="1498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04EF006-A913-6084-A2A7-66E199F44F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8354" y="628703"/>
            <a:ext cx="968319" cy="625984"/>
          </a:xfrm>
          <a:prstGeom prst="rect">
            <a:avLst/>
          </a:prstGeom>
        </p:spPr>
      </p:pic>
      <p:sp>
        <p:nvSpPr>
          <p:cNvPr id="12" name="Subtitle 2">
            <a:extLst>
              <a:ext uri="{FF2B5EF4-FFF2-40B4-BE49-F238E27FC236}">
                <a16:creationId xmlns:a16="http://schemas.microsoft.com/office/drawing/2014/main" id="{DD5C73F3-3B2E-2FDA-8150-8AE80181A778}"/>
              </a:ext>
            </a:extLst>
          </p:cNvPr>
          <p:cNvSpPr txBox="1">
            <a:spLocks/>
          </p:cNvSpPr>
          <p:nvPr userDrawn="1"/>
        </p:nvSpPr>
        <p:spPr>
          <a:xfrm>
            <a:off x="6565392" y="721153"/>
            <a:ext cx="1942064" cy="170516"/>
          </a:xfrm>
          <a:prstGeom prst="rect">
            <a:avLst/>
          </a:prstGeom>
          <a:noFill/>
        </p:spPr>
        <p:txBody>
          <a:bodyPr vert="horz" wrap="none" lIns="0" tIns="0" rIns="0" bIns="0" rtlCol="0" anchor="t"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E9F16988-0933-FE45-B699-E96D50AC6A70}" type="datetime4">
              <a:rPr lang="en-US" sz="1000" smtClean="0">
                <a:solidFill>
                  <a:schemeClr val="bg1"/>
                </a:solidFill>
                <a:latin typeface="Verdana" panose="020B0604030504040204" pitchFamily="34" charset="0"/>
                <a:ea typeface="Verdana" panose="020B0604030504040204" pitchFamily="34" charset="0"/>
                <a:cs typeface="Verdana" panose="020B0604030504040204" pitchFamily="34" charset="0"/>
              </a:rPr>
              <a:t>February 15, 2026</a:t>
            </a:fld>
            <a:endParaRPr lang="en-US" sz="1000" dirty="0">
              <a:solidFill>
                <a:srgbClr val="BCE7FD"/>
              </a:solidFill>
              <a:latin typeface="Barlow Condensed Medium" pitchFamily="2" charset="77"/>
            </a:endParaRPr>
          </a:p>
        </p:txBody>
      </p:sp>
      <p:sp>
        <p:nvSpPr>
          <p:cNvPr id="2" name="Title 1"/>
          <p:cNvSpPr>
            <a:spLocks noGrp="1"/>
          </p:cNvSpPr>
          <p:nvPr>
            <p:ph type="ctrTitle"/>
          </p:nvPr>
        </p:nvSpPr>
        <p:spPr>
          <a:xfrm>
            <a:off x="640080" y="1618487"/>
            <a:ext cx="7863840" cy="1716576"/>
          </a:xfrm>
          <a:prstGeom prst="rect">
            <a:avLst/>
          </a:prstGeom>
        </p:spPr>
        <p:txBody>
          <a:bodyPr lIns="0" tIns="0" rIns="0" bIns="0" anchor="t" anchorCtr="0">
            <a:normAutofit/>
          </a:bodyPr>
          <a:lstStyle>
            <a:lvl1pPr algn="l">
              <a:lnSpc>
                <a:spcPct val="100000"/>
              </a:lnSpc>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640080" y="3405433"/>
            <a:ext cx="7863840" cy="685800"/>
          </a:xfrm>
          <a:prstGeom prst="rect">
            <a:avLst/>
          </a:prstGeom>
        </p:spPr>
        <p:txBody>
          <a:bodyPr lIns="0" tIns="0" rIns="0" bIns="0">
            <a:norm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8939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86968"/>
            <a:ext cx="8229600" cy="294885"/>
          </a:xfrm>
          <a:prstGeom prst="rect">
            <a:avLst/>
          </a:prstGeom>
        </p:spPr>
        <p:txBody>
          <a:bodyPr wrap="none" lIns="0" tIns="0" rIns="0" bIns="0" anchor="b" anchorCtr="0">
            <a:normAutofit/>
          </a:bodyPr>
          <a:lstStyle>
            <a:lvl1pPr>
              <a:lnSpc>
                <a:spcPct val="100000"/>
              </a:lnSpc>
              <a:defRPr sz="2200">
                <a:solidFill>
                  <a:schemeClr val="accent1"/>
                </a:solidFill>
              </a:defRPr>
            </a:lvl1pPr>
          </a:lstStyle>
          <a:p>
            <a:r>
              <a:rPr lang="en-US"/>
              <a:t>Click to edit Master title style</a:t>
            </a:r>
          </a:p>
        </p:txBody>
      </p:sp>
      <p:sp>
        <p:nvSpPr>
          <p:cNvPr id="3" name="Content Placeholder 2"/>
          <p:cNvSpPr>
            <a:spLocks noGrp="1"/>
          </p:cNvSpPr>
          <p:nvPr>
            <p:ph idx="1"/>
          </p:nvPr>
        </p:nvSpPr>
        <p:spPr>
          <a:xfrm>
            <a:off x="457200" y="1272209"/>
            <a:ext cx="8229600" cy="3190063"/>
          </a:xfrm>
          <a:prstGeom prst="rect">
            <a:avLst/>
          </a:prstGeom>
        </p:spPr>
        <p:txBody>
          <a:bodyPr lIns="0" tIns="0" rIns="0" bIns="0">
            <a:normAutofit/>
          </a:bodyPr>
          <a:lstStyle>
            <a:lvl1pPr marL="228600" indent="-228600">
              <a:lnSpc>
                <a:spcPct val="120000"/>
              </a:lnSpc>
              <a:spcAft>
                <a:spcPts val="600"/>
              </a:spcAft>
              <a:buClr>
                <a:schemeClr val="accent1"/>
              </a:buClr>
              <a:buSzPct val="120000"/>
              <a:defRPr sz="1500"/>
            </a:lvl1pPr>
            <a:lvl2pPr marL="566928" indent="-228600">
              <a:lnSpc>
                <a:spcPct val="120000"/>
              </a:lnSpc>
              <a:spcAft>
                <a:spcPts val="600"/>
              </a:spcAft>
              <a:buClr>
                <a:schemeClr val="accent1"/>
              </a:buClr>
              <a:buFont typeface="Verdana" panose="020B0604030504040204" pitchFamily="34" charset="0"/>
              <a:buChar char="-"/>
              <a:defRPr sz="1500"/>
            </a:lvl2pPr>
            <a:lvl3pPr marL="857250" indent="-228600">
              <a:lnSpc>
                <a:spcPct val="120000"/>
              </a:lnSpc>
              <a:spcAft>
                <a:spcPts val="600"/>
              </a:spcAft>
              <a:buClr>
                <a:schemeClr val="accent1"/>
              </a:buClr>
              <a:buFont typeface="Wingdings" panose="05000000000000000000" pitchFamily="2" charset="2"/>
              <a:buChar char="§"/>
              <a:defRPr sz="1500"/>
            </a:lvl3pPr>
            <a:lvl4pPr marL="1200150" indent="-228600">
              <a:lnSpc>
                <a:spcPct val="120000"/>
              </a:lnSpc>
              <a:spcAft>
                <a:spcPts val="600"/>
              </a:spcAft>
              <a:buClr>
                <a:schemeClr val="accent1"/>
              </a:buClr>
              <a:buFont typeface="Verdana" panose="020B0604030504040204" pitchFamily="34" charset="0"/>
              <a:buChar char="-"/>
              <a:defRPr sz="1500"/>
            </a:lvl4pPr>
            <a:lvl5pPr marL="1543050" indent="-228600">
              <a:lnSpc>
                <a:spcPct val="120000"/>
              </a:lnSpc>
              <a:spcAft>
                <a:spcPts val="600"/>
              </a:spcAft>
              <a:buClr>
                <a:schemeClr val="accent1"/>
              </a:buClr>
              <a:buSzPct val="80000"/>
              <a:buFont typeface="Verdana" panose="020B060403050404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931FDFD-1E7F-4D38-B5E5-FEC4D4109758}"/>
              </a:ext>
            </a:extLst>
          </p:cNvPr>
          <p:cNvSpPr>
            <a:spLocks/>
          </p:cNvSpPr>
          <p:nvPr userDrawn="1"/>
        </p:nvSpPr>
        <p:spPr>
          <a:xfrm rot="10800000">
            <a:off x="-9145" y="-23667"/>
            <a:ext cx="9162288" cy="568708"/>
          </a:xfrm>
          <a:prstGeom prst="rect">
            <a:avLst/>
          </a:prstGeom>
          <a:gradFill flip="none" rotWithShape="1">
            <a:gsLst>
              <a:gs pos="0">
                <a:srgbClr val="0057A8">
                  <a:lumMod val="61100"/>
                </a:srgbClr>
              </a:gs>
              <a:gs pos="100000">
                <a:srgbClr val="0057A8"/>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latin typeface="Arial" pitchFamily="34" charset="0"/>
              <a:cs typeface="Arial" pitchFamily="34" charset="0"/>
            </a:endParaRPr>
          </a:p>
        </p:txBody>
      </p:sp>
      <p:cxnSp>
        <p:nvCxnSpPr>
          <p:cNvPr id="8" name="Straight Connector 7">
            <a:extLst>
              <a:ext uri="{FF2B5EF4-FFF2-40B4-BE49-F238E27FC236}">
                <a16:creationId xmlns:a16="http://schemas.microsoft.com/office/drawing/2014/main" id="{C68BFD85-22DB-E8C0-02E8-B0E843AA503D}"/>
              </a:ext>
            </a:extLst>
          </p:cNvPr>
          <p:cNvCxnSpPr>
            <a:cxnSpLocks/>
          </p:cNvCxnSpPr>
          <p:nvPr userDrawn="1"/>
        </p:nvCxnSpPr>
        <p:spPr>
          <a:xfrm>
            <a:off x="-9144" y="546994"/>
            <a:ext cx="9162288" cy="0"/>
          </a:xfrm>
          <a:prstGeom prst="line">
            <a:avLst/>
          </a:prstGeom>
          <a:ln w="12700">
            <a:solidFill>
              <a:srgbClr val="D90D0D"/>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CA67601-EED6-A212-C354-6B5497705C45}"/>
              </a:ext>
            </a:extLst>
          </p:cNvPr>
          <p:cNvSpPr txBox="1">
            <a:spLocks/>
          </p:cNvSpPr>
          <p:nvPr userDrawn="1"/>
        </p:nvSpPr>
        <p:spPr bwMode="gray">
          <a:xfrm>
            <a:off x="7883912" y="4601269"/>
            <a:ext cx="912155" cy="295463"/>
          </a:xfrm>
          <a:prstGeom prst="rect">
            <a:avLst/>
          </a:prstGeom>
          <a:noFill/>
        </p:spPr>
        <p:txBody>
          <a:bodyPr wrap="none" lIns="0" tIns="0" rIns="0" bIns="0" rtlCol="0" anchor="b"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fld id="{604A7A6C-F878-3C4E-8FE1-6958E2950697}" type="slidenum">
              <a:rPr lang="en-US" sz="900" b="1" smtClean="0">
                <a:solidFill>
                  <a:srgbClr val="0056A9"/>
                </a:solidFill>
                <a:latin typeface="Verdana" panose="020B0604030504040204" pitchFamily="34" charset="0"/>
                <a:ea typeface="Verdana" panose="020B0604030504040204" pitchFamily="34" charset="0"/>
                <a:cs typeface="Verdana" panose="020B0604030504040204" pitchFamily="34" charset="0"/>
              </a:rPr>
              <a:t>‹#›</a:t>
            </a:fld>
            <a:endParaRPr lang="en-US" sz="900" b="1">
              <a:solidFill>
                <a:srgbClr val="0056A9"/>
              </a:solidFill>
              <a:latin typeface="Verdana" panose="020B0604030504040204" pitchFamily="34" charset="0"/>
              <a:ea typeface="Verdana" panose="020B0604030504040204" pitchFamily="34" charset="0"/>
              <a:cs typeface="Verdana" panose="020B0604030504040204" pitchFamily="34" charset="0"/>
            </a:endParaRPr>
          </a:p>
        </p:txBody>
      </p:sp>
      <p:pic>
        <p:nvPicPr>
          <p:cNvPr id="10" name="Graphic 9">
            <a:extLst>
              <a:ext uri="{FF2B5EF4-FFF2-40B4-BE49-F238E27FC236}">
                <a16:creationId xmlns:a16="http://schemas.microsoft.com/office/drawing/2014/main" id="{DEFBA2DB-5453-FA7B-1121-348B59C86F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102984"/>
            <a:ext cx="1854200" cy="315405"/>
          </a:xfrm>
          <a:prstGeom prst="rect">
            <a:avLst/>
          </a:prstGeom>
        </p:spPr>
      </p:pic>
      <p:sp>
        <p:nvSpPr>
          <p:cNvPr id="11" name="Title 1">
            <a:extLst>
              <a:ext uri="{FF2B5EF4-FFF2-40B4-BE49-F238E27FC236}">
                <a16:creationId xmlns:a16="http://schemas.microsoft.com/office/drawing/2014/main" id="{C5082226-0855-77B2-A0D3-EDF61E9FCC89}"/>
              </a:ext>
            </a:extLst>
          </p:cNvPr>
          <p:cNvSpPr txBox="1">
            <a:spLocks/>
          </p:cNvSpPr>
          <p:nvPr userDrawn="1"/>
        </p:nvSpPr>
        <p:spPr bwMode="gray">
          <a:xfrm>
            <a:off x="6556248" y="0"/>
            <a:ext cx="2133600" cy="545039"/>
          </a:xfrm>
          <a:prstGeom prst="rect">
            <a:avLst/>
          </a:prstGeom>
          <a:noFill/>
        </p:spPr>
        <p:txBody>
          <a:bodyPr wrap="none" lIns="0" tIns="0" rIns="0" bIns="0" rtlCol="0" anchor="ctr"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r>
              <a:rPr lang="en-US" sz="1000" i="1">
                <a:solidFill>
                  <a:schemeClr val="bg1"/>
                </a:solidFill>
                <a:latin typeface="Verdana" panose="020B0604030504040204" pitchFamily="34" charset="0"/>
                <a:ea typeface="Verdana" panose="020B0604030504040204" pitchFamily="34" charset="0"/>
                <a:cs typeface="Verdana" panose="020B0604030504040204" pitchFamily="34" charset="0"/>
              </a:rPr>
              <a:t>Connecting you with Texas.</a:t>
            </a:r>
          </a:p>
        </p:txBody>
      </p:sp>
    </p:spTree>
    <p:extLst>
      <p:ext uri="{BB962C8B-B14F-4D97-AF65-F5344CB8AC3E}">
        <p14:creationId xmlns:p14="http://schemas.microsoft.com/office/powerpoint/2010/main" val="3750808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457200" y="1631897"/>
            <a:ext cx="3506724" cy="303966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090797" y="123227"/>
            <a:ext cx="5053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2/15/2026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459485" y="476690"/>
            <a:ext cx="3504438" cy="952993"/>
          </a:xfrm>
        </p:spPr>
        <p:txBody>
          <a:bodyPr anchor="t">
            <a:noAutofit/>
          </a:bodyPr>
          <a:lstStyle>
            <a:lvl1pPr>
              <a:defRPr sz="27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4429171" y="476690"/>
            <a:ext cx="4257629" cy="419487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4090797"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3818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5320915" y="476690"/>
            <a:ext cx="3358134" cy="997622"/>
          </a:xfrm>
        </p:spPr>
        <p:txBody>
          <a:bodyPr anchor="t">
            <a:noAutofit/>
          </a:bodyPr>
          <a:lstStyle>
            <a:lvl1pPr>
              <a:defRPr sz="27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552063" y="1675290"/>
            <a:ext cx="3426452" cy="32232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399268" y="3948946"/>
            <a:ext cx="1120860" cy="322326"/>
          </a:xfrm>
        </p:spPr>
        <p:txBody>
          <a:bodyPr/>
          <a:lstStyle>
            <a:lvl1pPr>
              <a:defRPr>
                <a:solidFill>
                  <a:schemeClr val="tx1"/>
                </a:solidFill>
                <a:effectLst/>
              </a:defRPr>
            </a:lvl1pPr>
          </a:lstStyle>
          <a:p>
            <a:fld id="{18FB12C4-D228-0548-ADB4-1A4C8851F4D3}" type="datetime1">
              <a:rPr lang="en-US" smtClean="0"/>
              <a:t>2/15/2026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4839826" y="123227"/>
            <a:ext cx="43041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199" y="0"/>
            <a:ext cx="4382627" cy="5148263"/>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4839826"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5320915" y="1584394"/>
            <a:ext cx="3358134" cy="32149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69014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3365268" y="476691"/>
            <a:ext cx="5212674" cy="84417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1552063" y="1675290"/>
            <a:ext cx="3426452" cy="322326"/>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399784" y="3949462"/>
            <a:ext cx="1121893" cy="322326"/>
          </a:xfrm>
        </p:spPr>
        <p:txBody>
          <a:bodyPr/>
          <a:lstStyle/>
          <a:p>
            <a:fld id="{F2A5EBC1-EEC5-7C42-832C-A9026EE0BC29}" type="datetime1">
              <a:rPr lang="en-US" smtClean="0"/>
              <a:t>2/15/2026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2891131" y="123227"/>
            <a:ext cx="6252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8746" y="0"/>
            <a:ext cx="2442385" cy="5148263"/>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2891131"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3365268" y="1411012"/>
            <a:ext cx="5212674" cy="32605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9903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321907" y="123227"/>
            <a:ext cx="88220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093183" y="1601682"/>
            <a:ext cx="4967577" cy="803826"/>
          </a:xfrm>
        </p:spPr>
        <p:txBody>
          <a:bodyPr anchor="b">
            <a:noAutofit/>
          </a:bodyPr>
          <a:lstStyle>
            <a:lvl1pPr algn="ctr">
              <a:defRPr sz="27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2/15/2026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2826590" y="2503840"/>
            <a:ext cx="3494801" cy="1235041"/>
          </a:xfrm>
          <a:prstGeom prst="rect">
            <a:avLst/>
          </a:prstGeom>
        </p:spPr>
        <p:txBody>
          <a:bodyPr/>
          <a:lstStyle>
            <a:lvl1pPr marL="0" indent="0" algn="ctr">
              <a:buNone/>
              <a:defRPr/>
            </a:lvl1pPr>
            <a:lvl2pPr marL="171450" indent="0" algn="ctr">
              <a:buNone/>
              <a:defRPr/>
            </a:lvl2pPr>
            <a:lvl3pPr marL="342900" indent="0" algn="ctr">
              <a:buNone/>
              <a:defRPr/>
            </a:lvl3pPr>
            <a:lvl4pPr marL="514350" indent="0" algn="ctr">
              <a:buNone/>
              <a:defRPr/>
            </a:lvl4pPr>
            <a:lvl5pPr marL="685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3846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86968"/>
            <a:ext cx="8229600" cy="292608"/>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271016"/>
            <a:ext cx="8229600" cy="31912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5711817"/>
      </p:ext>
    </p:extLst>
  </p:cSld>
  <p:clrMap bg1="lt1" tx1="dk1" bg2="lt2" tx2="dk2" accent1="accent1" accent2="accent2" accent3="accent3" accent4="accent4" accent5="accent5" accent6="accent6" hlink="hlink" folHlink="folHlink"/>
  <p:sldLayoutIdLst>
    <p:sldLayoutId id="2147483685" r:id="rId1"/>
    <p:sldLayoutId id="2147483696" r:id="rId2"/>
    <p:sldLayoutId id="2147483697" r:id="rId3"/>
    <p:sldLayoutId id="2147483686" r:id="rId4"/>
    <p:sldLayoutId id="2147483700" r:id="rId5"/>
    <p:sldLayoutId id="2147483701" r:id="rId6"/>
    <p:sldLayoutId id="2147483702" r:id="rId7"/>
    <p:sldLayoutId id="2147483703" r:id="rId8"/>
  </p:sldLayoutIdLst>
  <p:txStyles>
    <p:titleStyle>
      <a:lvl1pPr algn="l" defTabSz="685800" rtl="0" eaLnBrk="1" latinLnBrk="0" hangingPunct="1">
        <a:lnSpc>
          <a:spcPct val="90000"/>
        </a:lnSpc>
        <a:spcBef>
          <a:spcPct val="0"/>
        </a:spcBef>
        <a:buNone/>
        <a:defRPr sz="2200" kern="1200">
          <a:solidFill>
            <a:schemeClr val="accent1"/>
          </a:solidFill>
          <a:latin typeface="+mj-lt"/>
          <a:ea typeface="+mj-ea"/>
          <a:cs typeface="+mj-cs"/>
        </a:defRPr>
      </a:lvl1pPr>
    </p:titleStyle>
    <p:bodyStyle>
      <a:lvl1pPr marL="228600" indent="-228600" algn="l" defTabSz="685800" rtl="0" eaLnBrk="1" latinLnBrk="0" hangingPunct="1">
        <a:lnSpc>
          <a:spcPct val="120000"/>
        </a:lnSpc>
        <a:spcBef>
          <a:spcPts val="750"/>
        </a:spcBef>
        <a:spcAft>
          <a:spcPts val="600"/>
        </a:spcAft>
        <a:buClr>
          <a:schemeClr val="accent1"/>
        </a:buClr>
        <a:buSzPct val="120000"/>
        <a:buFont typeface="Arial" panose="020B0604020202020204" pitchFamily="34" charset="0"/>
        <a:buChar char="•"/>
        <a:defRPr sz="1500" kern="1200">
          <a:solidFill>
            <a:schemeClr val="tx1"/>
          </a:solidFill>
          <a:latin typeface="+mn-lt"/>
          <a:ea typeface="+mn-ea"/>
          <a:cs typeface="+mn-cs"/>
        </a:defRPr>
      </a:lvl1pPr>
      <a:lvl2pPr marL="5143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2pPr>
      <a:lvl3pPr marL="857250" indent="-228600" algn="l" defTabSz="685800" rtl="0" eaLnBrk="1" latinLnBrk="0" hangingPunct="1">
        <a:lnSpc>
          <a:spcPct val="120000"/>
        </a:lnSpc>
        <a:spcBef>
          <a:spcPts val="375"/>
        </a:spcBef>
        <a:spcAft>
          <a:spcPts val="600"/>
        </a:spcAft>
        <a:buClr>
          <a:schemeClr val="accent1"/>
        </a:buClr>
        <a:buFont typeface="Wingdings" panose="05000000000000000000" pitchFamily="2" charset="2"/>
        <a:buChar char="§"/>
        <a:defRPr sz="1500" kern="1200">
          <a:solidFill>
            <a:schemeClr val="tx1"/>
          </a:solidFill>
          <a:latin typeface="+mn-lt"/>
          <a:ea typeface="+mn-ea"/>
          <a:cs typeface="+mn-cs"/>
        </a:defRPr>
      </a:lvl3pPr>
      <a:lvl4pPr marL="12001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4pPr>
      <a:lvl5pPr marL="1543050" indent="-228600" algn="l" defTabSz="685800" rtl="0" eaLnBrk="1" latinLnBrk="0" hangingPunct="1">
        <a:lnSpc>
          <a:spcPct val="120000"/>
        </a:lnSpc>
        <a:spcBef>
          <a:spcPts val="375"/>
        </a:spcBef>
        <a:spcAft>
          <a:spcPts val="600"/>
        </a:spcAft>
        <a:buClr>
          <a:srgbClr val="0056A9"/>
        </a:buClr>
        <a:buSzPct val="80000"/>
        <a:buFont typeface="Verdana" panose="020B060403050404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6F56C9-6934-497F-A24B-B396227E1D20}"/>
              </a:ext>
            </a:extLst>
          </p:cNvPr>
          <p:cNvSpPr>
            <a:spLocks noGrp="1"/>
          </p:cNvSpPr>
          <p:nvPr>
            <p:ph type="ctrTitle"/>
          </p:nvPr>
        </p:nvSpPr>
        <p:spPr/>
        <p:txBody>
          <a:bodyPr/>
          <a:lstStyle/>
          <a:p>
            <a:r>
              <a:rPr lang="en-US" dirty="0"/>
              <a:t>TASK 1 - </a:t>
            </a:r>
            <a:r>
              <a:rPr lang="en-US" sz="2400" dirty="0"/>
              <a:t>Border Crossing Guide</a:t>
            </a:r>
            <a:endParaRPr lang="en-US" dirty="0"/>
          </a:p>
        </p:txBody>
      </p:sp>
      <p:pic>
        <p:nvPicPr>
          <p:cNvPr id="9" name="Picture Placeholder 8">
            <a:extLst>
              <a:ext uri="{FF2B5EF4-FFF2-40B4-BE49-F238E27FC236}">
                <a16:creationId xmlns:a16="http://schemas.microsoft.com/office/drawing/2014/main" id="{F7C1ED74-BF00-4B7D-8CF6-3C3184E463CA}"/>
              </a:ext>
            </a:extLst>
          </p:cNvPr>
          <p:cNvPicPr>
            <a:picLocks noGrp="1" noChangeAspect="1"/>
          </p:cNvPicPr>
          <p:nvPr>
            <p:ph type="pic" sz="quarter" idx="10"/>
          </p:nvPr>
        </p:nvPicPr>
        <p:blipFill>
          <a:blip r:embed="rId2"/>
          <a:srcRect t="19608" b="19608"/>
          <a:stretch>
            <a:fillRect/>
          </a:stretch>
        </p:blipFill>
        <p:spPr/>
      </p:pic>
    </p:spTree>
    <p:extLst>
      <p:ext uri="{BB962C8B-B14F-4D97-AF65-F5344CB8AC3E}">
        <p14:creationId xmlns:p14="http://schemas.microsoft.com/office/powerpoint/2010/main" val="308933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8D96-10B7-AF89-301A-EB6FA0A2B732}"/>
              </a:ext>
            </a:extLst>
          </p:cNvPr>
          <p:cNvSpPr>
            <a:spLocks noGrp="1"/>
          </p:cNvSpPr>
          <p:nvPr>
            <p:ph type="ctrTitle"/>
          </p:nvPr>
        </p:nvSpPr>
        <p:spPr/>
        <p:txBody>
          <a:bodyPr anchor="t">
            <a:normAutofit/>
          </a:bodyPr>
          <a:lstStyle/>
          <a:p>
            <a:r>
              <a:rPr lang="en-US" sz="2100" dirty="0"/>
              <a:t>2026 Texas–Mexico International Border Crossings Guide – Website Development Plan</a:t>
            </a:r>
          </a:p>
        </p:txBody>
      </p:sp>
      <p:sp>
        <p:nvSpPr>
          <p:cNvPr id="3" name="Subtitle 2">
            <a:extLst>
              <a:ext uri="{FF2B5EF4-FFF2-40B4-BE49-F238E27FC236}">
                <a16:creationId xmlns:a16="http://schemas.microsoft.com/office/drawing/2014/main" id="{143975BD-4380-F80A-359E-BBDFE1113F8A}"/>
              </a:ext>
            </a:extLst>
          </p:cNvPr>
          <p:cNvSpPr>
            <a:spLocks noGrp="1"/>
          </p:cNvSpPr>
          <p:nvPr>
            <p:ph type="subTitle" idx="1"/>
          </p:nvPr>
        </p:nvSpPr>
        <p:spPr/>
        <p:txBody>
          <a:bodyPr anchor="b">
            <a:normAutofit/>
          </a:bodyPr>
          <a:lstStyle/>
          <a:p>
            <a:r>
              <a:rPr lang="en-US"/>
              <a:t>Designing a user-friendly platform for cross-border travel</a:t>
            </a:r>
          </a:p>
        </p:txBody>
      </p:sp>
      <p:sp>
        <p:nvSpPr>
          <p:cNvPr id="6" name="Slide Number Placeholder 5">
            <a:extLst>
              <a:ext uri="{FF2B5EF4-FFF2-40B4-BE49-F238E27FC236}">
                <a16:creationId xmlns:a16="http://schemas.microsoft.com/office/drawing/2014/main" id="{45282DEB-5F07-F016-A35E-BD4AE2066E21}"/>
              </a:ext>
            </a:extLst>
          </p:cNvPr>
          <p:cNvSpPr>
            <a:spLocks noGrp="1"/>
          </p:cNvSpPr>
          <p:nvPr>
            <p:ph type="sldNum" sz="quarter" idx="4294967295"/>
          </p:nvPr>
        </p:nvSpPr>
        <p:spPr>
          <a:xfrm>
            <a:off x="0" y="4872038"/>
            <a:ext cx="322263" cy="274637"/>
          </a:xfrm>
        </p:spPr>
        <p:txBody>
          <a:bodyPr anchor="ctr">
            <a:normAutofit fontScale="85000" lnSpcReduction="20000"/>
          </a:bodyPr>
          <a:lstStyle/>
          <a:p>
            <a:pPr>
              <a:spcAft>
                <a:spcPts val="450"/>
              </a:spcAft>
            </a:pPr>
            <a:fld id="{AEAA3239-9EA4-4A65-A281-97F994456D9F}" type="slidenum">
              <a:rPr lang="en-US" smtClean="0"/>
              <a:pPr>
                <a:spcAft>
                  <a:spcPts val="450"/>
                </a:spcAft>
              </a:pPr>
              <a:t>2</a:t>
            </a:fld>
            <a:endParaRPr lang="en-US"/>
          </a:p>
        </p:txBody>
      </p:sp>
    </p:spTree>
    <p:extLst>
      <p:ext uri="{BB962C8B-B14F-4D97-AF65-F5344CB8AC3E}">
        <p14:creationId xmlns:p14="http://schemas.microsoft.com/office/powerpoint/2010/main" val="221155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3935-1555-92E8-F5CC-884DE81F1781}"/>
              </a:ext>
            </a:extLst>
          </p:cNvPr>
          <p:cNvSpPr>
            <a:spLocks noGrp="1"/>
          </p:cNvSpPr>
          <p:nvPr>
            <p:ph type="title"/>
          </p:nvPr>
        </p:nvSpPr>
        <p:spPr/>
        <p:txBody>
          <a:bodyPr anchor="t">
            <a:normAutofit fontScale="90000"/>
          </a:bodyPr>
          <a:lstStyle/>
          <a:p>
            <a:r>
              <a:rPr lang="en-US" sz="2100"/>
              <a:t>Overview of the Website Development Plan</a:t>
            </a:r>
          </a:p>
        </p:txBody>
      </p:sp>
      <p:sp>
        <p:nvSpPr>
          <p:cNvPr id="7" name="Content Placeholder 6">
            <a:extLst>
              <a:ext uri="{FF2B5EF4-FFF2-40B4-BE49-F238E27FC236}">
                <a16:creationId xmlns:a16="http://schemas.microsoft.com/office/drawing/2014/main" id="{514F25B0-E9A1-C0AC-E7FB-8E92444B348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Unified Digital Platform</a:t>
            </a:r>
          </a:p>
          <a:p>
            <a:pPr marL="0" lvl="1" indent="0">
              <a:buNone/>
            </a:pPr>
            <a:r>
              <a:t>The plan integrates multiple sources into one centralized, automated, and bilingual website for the Texas–Mexico border crossings.</a:t>
            </a:r>
            <a:endParaRPr lang="en-US"/>
          </a:p>
          <a:p>
            <a:pPr marL="0" indent="0">
              <a:spcBef>
                <a:spcPts val="1875"/>
              </a:spcBef>
              <a:buNone/>
            </a:pPr>
            <a:r>
              <a:rPr lang="en-US" b="1"/>
              <a:t>Data Consolidation and Management</a:t>
            </a:r>
          </a:p>
          <a:p>
            <a:pPr marL="0" lvl="1" indent="0">
              <a:buNone/>
            </a:pPr>
            <a:r>
              <a:t>Using structured CSV, Markdown, and centralized mapping reduces data redundancy and improves maintainability.</a:t>
            </a:r>
            <a:endParaRPr lang="en-US"/>
          </a:p>
          <a:p>
            <a:pPr marL="0" indent="0">
              <a:spcBef>
                <a:spcPts val="1875"/>
              </a:spcBef>
              <a:buNone/>
            </a:pPr>
            <a:r>
              <a:rPr lang="en-US" b="1"/>
              <a:t>User-Centered Interface</a:t>
            </a:r>
          </a:p>
          <a:p>
            <a:pPr marL="0" lvl="1" indent="0">
              <a:buNone/>
            </a:pPr>
            <a:r>
              <a:t>The website offers bilingual, accessible, and interactive information tailored for diverse stakeholders and travelers.</a:t>
            </a:r>
            <a:endParaRPr lang="en-US"/>
          </a:p>
          <a:p>
            <a:pPr marL="0" indent="0">
              <a:spcBef>
                <a:spcPts val="1875"/>
              </a:spcBef>
              <a:buNone/>
            </a:pPr>
            <a:r>
              <a:rPr lang="en-US" b="1"/>
              <a:t>Future-Ready Features</a:t>
            </a:r>
          </a:p>
          <a:p>
            <a:pPr marL="0" lvl="1" indent="0">
              <a:buNone/>
            </a:pPr>
            <a:r>
              <a:t>Includes automated PDF generation, visualization tools, and flexible templates to accommodate ongoing updates.</a:t>
            </a:r>
            <a:endParaRPr lang="en-US"/>
          </a:p>
        </p:txBody>
      </p:sp>
    </p:spTree>
    <p:extLst>
      <p:ext uri="{BB962C8B-B14F-4D97-AF65-F5344CB8AC3E}">
        <p14:creationId xmlns:p14="http://schemas.microsoft.com/office/powerpoint/2010/main" val="2842845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F9C-C16D-AEAF-852D-A169E0F9D922}"/>
              </a:ext>
            </a:extLst>
          </p:cNvPr>
          <p:cNvSpPr>
            <a:spLocks noGrp="1"/>
          </p:cNvSpPr>
          <p:nvPr>
            <p:ph type="title"/>
          </p:nvPr>
        </p:nvSpPr>
        <p:spPr/>
        <p:txBody>
          <a:bodyPr anchor="t">
            <a:normAutofit fontScale="90000"/>
          </a:bodyPr>
          <a:lstStyle/>
          <a:p>
            <a:r>
              <a:rPr lang="en-US"/>
              <a:t>Core Features of the Website</a:t>
            </a:r>
          </a:p>
        </p:txBody>
      </p:sp>
      <p:sp>
        <p:nvSpPr>
          <p:cNvPr id="7" name="Content Placeholder 6">
            <a:extLst>
              <a:ext uri="{FF2B5EF4-FFF2-40B4-BE49-F238E27FC236}">
                <a16:creationId xmlns:a16="http://schemas.microsoft.com/office/drawing/2014/main" id="{BA230479-3E59-93E2-3C7C-F9066E1F0F1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62500" lnSpcReduction="20000"/>
          </a:bodyPr>
          <a:lstStyle/>
          <a:p>
            <a:pPr marL="0" indent="0">
              <a:spcBef>
                <a:spcPts val="1875"/>
              </a:spcBef>
              <a:buNone/>
            </a:pPr>
            <a:r>
              <a:rPr lang="en-US" b="1"/>
              <a:t>Interactive Region Overview</a:t>
            </a:r>
          </a:p>
          <a:p>
            <a:pPr marL="0" lvl="1" indent="0">
              <a:buNone/>
            </a:pPr>
            <a:r>
              <a:t>The platform features region pages with AGOL-powered maps and smooth scroll-trigger animations for enhanced user engagement.</a:t>
            </a:r>
            <a:endParaRPr lang="en-US"/>
          </a:p>
          <a:p>
            <a:pPr marL="0" indent="0">
              <a:spcBef>
                <a:spcPts val="1875"/>
              </a:spcBef>
              <a:buNone/>
            </a:pPr>
            <a:r>
              <a:rPr lang="en-US" b="1"/>
              <a:t>Dedicated Bilingual Border Crossing Pages</a:t>
            </a:r>
          </a:p>
          <a:p>
            <a:pPr marL="0" lvl="1" indent="0">
              <a:buNone/>
            </a:pPr>
            <a:r>
              <a:t>Each border crossing page is bilingual, offering detailed operational info, statistics, facility descriptions, and downloadable PDFs.</a:t>
            </a:r>
            <a:endParaRPr lang="en-US"/>
          </a:p>
          <a:p>
            <a:pPr marL="0" indent="0">
              <a:spcBef>
                <a:spcPts val="1875"/>
              </a:spcBef>
              <a:buNone/>
            </a:pPr>
            <a:r>
              <a:rPr lang="en-US" b="1"/>
              <a:t>Automated Data Visualizations</a:t>
            </a:r>
          </a:p>
          <a:p>
            <a:pPr marL="0" lvl="1" indent="0">
              <a:buNone/>
            </a:pPr>
            <a:r>
              <a:t>Tables, charts, and graphs are automatically generated from vetted data sets ensuring current and reliable user information.</a:t>
            </a:r>
            <a:endParaRPr lang="en-US"/>
          </a:p>
          <a:p>
            <a:pPr marL="0" indent="0">
              <a:spcBef>
                <a:spcPts val="1875"/>
              </a:spcBef>
              <a:buNone/>
            </a:pPr>
            <a:r>
              <a:rPr lang="en-US" b="1"/>
              <a:t>Automated Updates &amp; Scalability</a:t>
            </a:r>
          </a:p>
          <a:p>
            <a:pPr marL="0" lvl="1" indent="0">
              <a:buNone/>
            </a:pPr>
            <a:r>
              <a:t>The website supports automated updates from centralized sources, enabling rapid content revisions without developer input.</a:t>
            </a:r>
            <a:endParaRPr lang="en-US"/>
          </a:p>
        </p:txBody>
      </p:sp>
    </p:spTree>
    <p:extLst>
      <p:ext uri="{BB962C8B-B14F-4D97-AF65-F5344CB8AC3E}">
        <p14:creationId xmlns:p14="http://schemas.microsoft.com/office/powerpoint/2010/main" val="3341352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798-FD5F-91B5-E034-8FB14D368313}"/>
              </a:ext>
            </a:extLst>
          </p:cNvPr>
          <p:cNvSpPr>
            <a:spLocks noGrp="1"/>
          </p:cNvSpPr>
          <p:nvPr>
            <p:ph type="title"/>
          </p:nvPr>
        </p:nvSpPr>
        <p:spPr/>
        <p:txBody>
          <a:bodyPr anchor="t">
            <a:normAutofit fontScale="90000"/>
          </a:bodyPr>
          <a:lstStyle/>
          <a:p>
            <a:r>
              <a:rPr lang="en-US" sz="2475"/>
              <a:t>Challenges in Data, Layout, and System Integration</a:t>
            </a:r>
          </a:p>
        </p:txBody>
      </p:sp>
      <p:sp>
        <p:nvSpPr>
          <p:cNvPr id="7" name="Content Placeholder 6">
            <a:extLst>
              <a:ext uri="{FF2B5EF4-FFF2-40B4-BE49-F238E27FC236}">
                <a16:creationId xmlns:a16="http://schemas.microsoft.com/office/drawing/2014/main" id="{F317468E-8BFC-D3E6-5783-882DCFDC3AD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7500" lnSpcReduction="20000"/>
          </a:bodyPr>
          <a:lstStyle/>
          <a:p>
            <a:pPr marL="0" indent="0">
              <a:lnSpc>
                <a:spcPct val="110000"/>
              </a:lnSpc>
              <a:spcBef>
                <a:spcPts val="1875"/>
              </a:spcBef>
              <a:buNone/>
            </a:pPr>
            <a:r>
              <a:rPr lang="en-US" b="1"/>
              <a:t>Bilingual PDF Layout Challenges</a:t>
            </a:r>
          </a:p>
          <a:p>
            <a:pPr marL="0" lvl="1" indent="0">
              <a:lnSpc>
                <a:spcPct val="110000"/>
              </a:lnSpc>
              <a:buNone/>
            </a:pPr>
            <a:r>
              <a:t>Generating bilingual PDFs requires pixel-perfect alignment and advanced formatting to handle different text lengths.</a:t>
            </a:r>
            <a:endParaRPr lang="en-US"/>
          </a:p>
          <a:p>
            <a:pPr marL="0" indent="0">
              <a:lnSpc>
                <a:spcPct val="110000"/>
              </a:lnSpc>
              <a:spcBef>
                <a:spcPts val="1875"/>
              </a:spcBef>
              <a:buNone/>
            </a:pPr>
            <a:r>
              <a:rPr lang="en-US" b="1"/>
              <a:t>AGOL Map Integration</a:t>
            </a:r>
          </a:p>
          <a:p>
            <a:pPr marL="0" lvl="1" indent="0">
              <a:lnSpc>
                <a:spcPct val="110000"/>
              </a:lnSpc>
              <a:buNone/>
            </a:pPr>
            <a:r>
              <a:t>Integrating AGOL maps demands smooth, synchronized scroll animations and cohesive zoom and pan transitions.</a:t>
            </a:r>
            <a:endParaRPr lang="en-US"/>
          </a:p>
          <a:p>
            <a:pPr marL="0" indent="0">
              <a:lnSpc>
                <a:spcPct val="110000"/>
              </a:lnSpc>
              <a:spcBef>
                <a:spcPts val="1875"/>
              </a:spcBef>
              <a:buNone/>
            </a:pPr>
            <a:r>
              <a:rPr lang="en-US" b="1"/>
              <a:t>Complex Data Structure</a:t>
            </a:r>
          </a:p>
          <a:p>
            <a:pPr marL="0" lvl="1" indent="0">
              <a:lnSpc>
                <a:spcPct val="110000"/>
              </a:lnSpc>
              <a:buNone/>
            </a:pPr>
            <a:r>
              <a:t>CSV files must support over 30 bilingual fields with robust parsing and error handling for special cases.</a:t>
            </a:r>
            <a:endParaRPr lang="en-US"/>
          </a:p>
          <a:p>
            <a:pPr marL="0" indent="0">
              <a:lnSpc>
                <a:spcPct val="110000"/>
              </a:lnSpc>
              <a:spcBef>
                <a:spcPts val="1875"/>
              </a:spcBef>
              <a:buNone/>
            </a:pPr>
            <a:r>
              <a:rPr lang="en-US" b="1"/>
              <a:t>Content Migration Process</a:t>
            </a:r>
          </a:p>
          <a:p>
            <a:pPr marL="0" lvl="1" indent="0">
              <a:lnSpc>
                <a:spcPct val="110000"/>
              </a:lnSpc>
              <a:buNone/>
            </a:pPr>
            <a:r>
              <a:t>Manual extraction and transformation of content from guidebook ensures accuracy for automated builds.</a:t>
            </a:r>
            <a:endParaRPr lang="en-US"/>
          </a:p>
        </p:txBody>
      </p:sp>
    </p:spTree>
    <p:extLst>
      <p:ext uri="{BB962C8B-B14F-4D97-AF65-F5344CB8AC3E}">
        <p14:creationId xmlns:p14="http://schemas.microsoft.com/office/powerpoint/2010/main" val="482304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1C0B-7D36-9B3C-D050-808B4FCCB399}"/>
              </a:ext>
            </a:extLst>
          </p:cNvPr>
          <p:cNvSpPr>
            <a:spLocks noGrp="1"/>
          </p:cNvSpPr>
          <p:nvPr>
            <p:ph type="title"/>
          </p:nvPr>
        </p:nvSpPr>
        <p:spPr/>
        <p:txBody>
          <a:bodyPr anchor="t">
            <a:normAutofit/>
          </a:bodyPr>
          <a:lstStyle/>
          <a:p>
            <a:r>
              <a:rPr lang="en-US" sz="1875"/>
              <a:t>Three‑Tier Strategy for Scalable Content Management</a:t>
            </a:r>
          </a:p>
        </p:txBody>
      </p:sp>
      <p:sp>
        <p:nvSpPr>
          <p:cNvPr id="7" name="Content Placeholder 6">
            <a:extLst>
              <a:ext uri="{FF2B5EF4-FFF2-40B4-BE49-F238E27FC236}">
                <a16:creationId xmlns:a16="http://schemas.microsoft.com/office/drawing/2014/main" id="{C033F168-AB4A-2616-EAE9-7AF65B27D26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marL="0" indent="0">
              <a:spcBef>
                <a:spcPts val="1875"/>
              </a:spcBef>
              <a:buNone/>
            </a:pPr>
            <a:r>
              <a:rPr lang="en-US" b="1"/>
              <a:t>Tier One: Web Map Updates</a:t>
            </a:r>
          </a:p>
          <a:p>
            <a:pPr marL="0" lvl="1" indent="0">
              <a:buNone/>
            </a:pPr>
            <a:r>
              <a:t>The ArcGIS Online Web Map enables instant geographic updates without code deployments for live map adjustments.</a:t>
            </a:r>
            <a:endParaRPr lang="en-US"/>
          </a:p>
          <a:p>
            <a:pPr marL="0" indent="0">
              <a:spcBef>
                <a:spcPts val="1875"/>
              </a:spcBef>
              <a:buNone/>
            </a:pPr>
            <a:r>
              <a:rPr lang="en-US" b="1"/>
              <a:t>Tier Two: Structured CSV Data</a:t>
            </a:r>
          </a:p>
          <a:p>
            <a:pPr marL="0" lvl="1" indent="0">
              <a:buNone/>
            </a:pPr>
            <a:r>
              <a:t>CSV datasets store structured info managed by experts, with updates triggering page and PDF regeneration.</a:t>
            </a:r>
            <a:endParaRPr lang="en-US"/>
          </a:p>
          <a:p>
            <a:pPr marL="0" indent="0">
              <a:spcBef>
                <a:spcPts val="1875"/>
              </a:spcBef>
              <a:buNone/>
            </a:pPr>
            <a:r>
              <a:rPr lang="en-US" b="1"/>
              <a:t>Tier Three: Narrative Content</a:t>
            </a:r>
          </a:p>
          <a:p>
            <a:pPr marL="0" lvl="1" indent="0">
              <a:buNone/>
            </a:pPr>
            <a:r>
              <a:t>Markdown files allow content creators to update long-form narratives easily without technical skills.</a:t>
            </a:r>
            <a:endParaRPr lang="en-US"/>
          </a:p>
        </p:txBody>
      </p:sp>
    </p:spTree>
    <p:extLst>
      <p:ext uri="{BB962C8B-B14F-4D97-AF65-F5344CB8AC3E}">
        <p14:creationId xmlns:p14="http://schemas.microsoft.com/office/powerpoint/2010/main" val="3541054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A2ECF-6F66-4976-990C-41E554AAB0C9}"/>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3066ED17-FB19-471F-B84B-D067C5F3C6F1}"/>
              </a:ext>
            </a:extLst>
          </p:cNvPr>
          <p:cNvSpPr>
            <a:spLocks noGrp="1"/>
          </p:cNvSpPr>
          <p:nvPr>
            <p:ph idx="1"/>
          </p:nvPr>
        </p:nvSpPr>
        <p:spPr/>
        <p:txBody>
          <a:bodyPr/>
          <a:lstStyle/>
          <a:p>
            <a:r>
              <a:rPr lang="en-US" dirty="0"/>
              <a:t>Insert Adi’s Process slide here</a:t>
            </a:r>
          </a:p>
        </p:txBody>
      </p:sp>
    </p:spTree>
    <p:extLst>
      <p:ext uri="{BB962C8B-B14F-4D97-AF65-F5344CB8AC3E}">
        <p14:creationId xmlns:p14="http://schemas.microsoft.com/office/powerpoint/2010/main" val="2534431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C977-F8E7-C985-5D14-2B2D45E93EEA}"/>
              </a:ext>
            </a:extLst>
          </p:cNvPr>
          <p:cNvSpPr>
            <a:spLocks noGrp="1"/>
          </p:cNvSpPr>
          <p:nvPr>
            <p:ph type="title"/>
          </p:nvPr>
        </p:nvSpPr>
        <p:spPr/>
        <p:txBody>
          <a:bodyPr anchor="t">
            <a:normAutofit fontScale="90000"/>
          </a:bodyPr>
          <a:lstStyle/>
          <a:p>
            <a:r>
              <a:rPr lang="en-US" sz="2475"/>
              <a:t>Website Architecture and User Experience Structure</a:t>
            </a:r>
          </a:p>
        </p:txBody>
      </p:sp>
      <p:sp>
        <p:nvSpPr>
          <p:cNvPr id="7" name="Content Placeholder 6">
            <a:extLst>
              <a:ext uri="{FF2B5EF4-FFF2-40B4-BE49-F238E27FC236}">
                <a16:creationId xmlns:a16="http://schemas.microsoft.com/office/drawing/2014/main" id="{F8C17416-EAD5-38AE-22F0-8D7297DE965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lnSpc>
                <a:spcPct val="110000"/>
              </a:lnSpc>
              <a:spcBef>
                <a:spcPts val="1875"/>
              </a:spcBef>
              <a:buNone/>
            </a:pPr>
            <a:r>
              <a:rPr lang="en-US" b="1"/>
              <a:t>Intuitive Site Navigation</a:t>
            </a:r>
          </a:p>
          <a:p>
            <a:pPr marL="0" lvl="1" indent="0">
              <a:lnSpc>
                <a:spcPct val="110000"/>
              </a:lnSpc>
              <a:buNone/>
            </a:pPr>
            <a:r>
              <a:t>The website guides users through clear navigation with high-level regional and detailed crossing information.</a:t>
            </a:r>
            <a:endParaRPr lang="en-US"/>
          </a:p>
          <a:p>
            <a:pPr marL="0" indent="0">
              <a:lnSpc>
                <a:spcPct val="110000"/>
              </a:lnSpc>
              <a:spcBef>
                <a:spcPts val="1875"/>
              </a:spcBef>
              <a:buNone/>
            </a:pPr>
            <a:r>
              <a:rPr lang="en-US" b="1"/>
              <a:t>Regional Overview Pages</a:t>
            </a:r>
          </a:p>
          <a:p>
            <a:pPr marL="0" lvl="1" indent="0">
              <a:lnSpc>
                <a:spcPct val="110000"/>
              </a:lnSpc>
              <a:buNone/>
            </a:pPr>
            <a:r>
              <a:t>Pages feature scroll-triggered map animations, narratives, and organized crossing links for El Paso, Laredo, and Rio Grande Valley.</a:t>
            </a:r>
            <a:endParaRPr lang="en-US"/>
          </a:p>
          <a:p>
            <a:pPr marL="0" indent="0">
              <a:lnSpc>
                <a:spcPct val="110000"/>
              </a:lnSpc>
              <a:spcBef>
                <a:spcPts val="1875"/>
              </a:spcBef>
              <a:buNone/>
            </a:pPr>
            <a:r>
              <a:rPr lang="en-US" b="1"/>
              <a:t>Bilingual Content and PDF Fact Sheets</a:t>
            </a:r>
          </a:p>
          <a:p>
            <a:pPr marL="0" lvl="1" indent="0">
              <a:lnSpc>
                <a:spcPct val="110000"/>
              </a:lnSpc>
              <a:buNone/>
            </a:pPr>
            <a:r>
              <a:t>Crossing pages offer bilingual content, traffic data, and downloadable PDF fact sheets standardized to the 2025 Bridge Guidebook format.</a:t>
            </a:r>
            <a:endParaRPr lang="en-US"/>
          </a:p>
          <a:p>
            <a:pPr marL="0" indent="0">
              <a:lnSpc>
                <a:spcPct val="110000"/>
              </a:lnSpc>
              <a:spcBef>
                <a:spcPts val="1875"/>
              </a:spcBef>
              <a:buNone/>
            </a:pPr>
            <a:r>
              <a:rPr lang="en-US" b="1"/>
              <a:t>Scalable and Cohesive Structure</a:t>
            </a:r>
          </a:p>
          <a:p>
            <a:pPr marL="0" lvl="1" indent="0">
              <a:lnSpc>
                <a:spcPct val="110000"/>
              </a:lnSpc>
              <a:buNone/>
            </a:pPr>
            <a:r>
              <a:t>The architecture supports easy updates and additions, ensuring a cohesive experience for diverse user groups.</a:t>
            </a:r>
            <a:endParaRPr lang="en-US"/>
          </a:p>
        </p:txBody>
      </p:sp>
    </p:spTree>
    <p:extLst>
      <p:ext uri="{BB962C8B-B14F-4D97-AF65-F5344CB8AC3E}">
        <p14:creationId xmlns:p14="http://schemas.microsoft.com/office/powerpoint/2010/main" val="2570875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9C54-FD77-E394-8B84-BF6EA69CECC2}"/>
              </a:ext>
            </a:extLst>
          </p:cNvPr>
          <p:cNvSpPr>
            <a:spLocks noGrp="1"/>
          </p:cNvSpPr>
          <p:nvPr>
            <p:ph type="title"/>
          </p:nvPr>
        </p:nvSpPr>
        <p:spPr/>
        <p:txBody>
          <a:bodyPr anchor="t">
            <a:normAutofit fontScale="90000"/>
          </a:bodyPr>
          <a:lstStyle/>
          <a:p>
            <a:r>
              <a:rPr lang="en-US" sz="2100"/>
              <a:t>Phased Timeline Toward August 2026 Launch</a:t>
            </a:r>
          </a:p>
        </p:txBody>
      </p:sp>
      <p:sp>
        <p:nvSpPr>
          <p:cNvPr id="7" name="Content Placeholder 6">
            <a:extLst>
              <a:ext uri="{FF2B5EF4-FFF2-40B4-BE49-F238E27FC236}">
                <a16:creationId xmlns:a16="http://schemas.microsoft.com/office/drawing/2014/main" id="{C9303639-7B87-EB57-005D-B5B4C02B173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Data Preparation and Migration</a:t>
            </a:r>
          </a:p>
          <a:p>
            <a:pPr marL="0" lvl="1" indent="0">
              <a:buNone/>
            </a:pPr>
            <a:r>
              <a:t>Phase 1 involves creating CSV templates, extracting data, populating bilingual content, and conducting accuracy reviews.</a:t>
            </a:r>
            <a:endParaRPr lang="en-US"/>
          </a:p>
          <a:p>
            <a:pPr marL="0" indent="0">
              <a:spcBef>
                <a:spcPts val="1875"/>
              </a:spcBef>
              <a:buNone/>
            </a:pPr>
            <a:r>
              <a:rPr lang="en-US" b="1"/>
              <a:t>Technical Setup and Development</a:t>
            </a:r>
          </a:p>
          <a:p>
            <a:pPr marL="0" lvl="1" indent="0">
              <a:buNone/>
            </a:pPr>
            <a:r>
              <a:t>Phases 2 and 3 cover project setup, architecture design, script building, map integration, and PDF generation.</a:t>
            </a:r>
            <a:endParaRPr lang="en-US"/>
          </a:p>
          <a:p>
            <a:pPr marL="0" indent="0">
              <a:spcBef>
                <a:spcPts val="1875"/>
              </a:spcBef>
              <a:buNone/>
            </a:pPr>
            <a:r>
              <a:rPr lang="en-US" b="1"/>
              <a:t>Design and Testing</a:t>
            </a:r>
          </a:p>
          <a:p>
            <a:pPr marL="0" lvl="1" indent="0">
              <a:buNone/>
            </a:pPr>
            <a:r>
              <a:t>Phases 4 and 5 focus on design alignment, responsive styling, QA testing, performance checks, and deployment.</a:t>
            </a:r>
            <a:endParaRPr lang="en-US"/>
          </a:p>
          <a:p>
            <a:pPr marL="0" indent="0">
              <a:spcBef>
                <a:spcPts val="1875"/>
              </a:spcBef>
              <a:buNone/>
            </a:pPr>
            <a:r>
              <a:rPr lang="en-US" b="1"/>
              <a:t>Client Review and Finalization</a:t>
            </a:r>
          </a:p>
          <a:p>
            <a:pPr marL="0" lvl="1" indent="0">
              <a:buNone/>
            </a:pPr>
            <a:r>
              <a:t>Phase 6 includes client feedback iterations, design refinements, content adjustments, and bug fixes before launch.</a:t>
            </a:r>
            <a:endParaRPr lang="en-US"/>
          </a:p>
        </p:txBody>
      </p:sp>
    </p:spTree>
    <p:extLst>
      <p:ext uri="{BB962C8B-B14F-4D97-AF65-F5344CB8AC3E}">
        <p14:creationId xmlns:p14="http://schemas.microsoft.com/office/powerpoint/2010/main" val="599273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9074-7D65-7F33-095F-944AFB461262}"/>
              </a:ext>
            </a:extLst>
          </p:cNvPr>
          <p:cNvSpPr>
            <a:spLocks noGrp="1"/>
          </p:cNvSpPr>
          <p:nvPr>
            <p:ph type="title"/>
          </p:nvPr>
        </p:nvSpPr>
        <p:spPr/>
        <p:txBody>
          <a:bodyPr anchor="b">
            <a:normAutofit fontScale="90000"/>
          </a:bodyPr>
          <a:lstStyle/>
          <a:p>
            <a:r>
              <a:rPr lang="en-US" sz="2475"/>
              <a:t>Comparison of Previous vs. New Automated Process</a:t>
            </a:r>
          </a:p>
        </p:txBody>
      </p:sp>
      <p:graphicFrame>
        <p:nvGraphicFramePr>
          <p:cNvPr id="8" name="Content Placeholder 7">
            <a:extLst>
              <a:ext uri="{FF2B5EF4-FFF2-40B4-BE49-F238E27FC236}">
                <a16:creationId xmlns:a16="http://schemas.microsoft.com/office/drawing/2014/main" id="{0B14ABA4-7C4C-4108-9F17-CC30C27B73E8}"/>
              </a:ext>
            </a:extLst>
          </p:cNvPr>
          <p:cNvGraphicFramePr>
            <a:graphicFrameLocks noGrp="1"/>
          </p:cNvGraphicFramePr>
          <p:nvPr>
            <p:ph idx="1"/>
            <p:extLst>
              <p:ext uri="{D42A27DB-BD31-4B8C-83A1-F6EECF244321}">
                <p14:modId xmlns:p14="http://schemas.microsoft.com/office/powerpoint/2010/main" val="3690730423"/>
              </p:ext>
            </p:extLst>
          </p:nvPr>
        </p:nvGraphicFramePr>
        <p:xfrm>
          <a:off x="457200" y="1271588"/>
          <a:ext cx="8479409" cy="3600451"/>
        </p:xfrm>
        <a:graphic>
          <a:graphicData uri="http://schemas.openxmlformats.org/drawingml/2006/table">
            <a:tbl>
              <a:tblPr firstRow="1" bandRow="1">
                <a:noFill/>
                <a:tableStyleId>{5C22544A-7EE6-4342-B048-85BDC9FD1C3A}</a:tableStyleId>
              </a:tblPr>
              <a:tblGrid>
                <a:gridCol w="2659335">
                  <a:extLst>
                    <a:ext uri="{9D8B030D-6E8A-4147-A177-3AD203B41FA5}">
                      <a16:colId xmlns:a16="http://schemas.microsoft.com/office/drawing/2014/main" val="3191858545"/>
                    </a:ext>
                  </a:extLst>
                </a:gridCol>
                <a:gridCol w="2725560">
                  <a:extLst>
                    <a:ext uri="{9D8B030D-6E8A-4147-A177-3AD203B41FA5}">
                      <a16:colId xmlns:a16="http://schemas.microsoft.com/office/drawing/2014/main" val="634371181"/>
                    </a:ext>
                  </a:extLst>
                </a:gridCol>
                <a:gridCol w="3094514">
                  <a:extLst>
                    <a:ext uri="{9D8B030D-6E8A-4147-A177-3AD203B41FA5}">
                      <a16:colId xmlns:a16="http://schemas.microsoft.com/office/drawing/2014/main" val="692290893"/>
                    </a:ext>
                  </a:extLst>
                </a:gridCol>
              </a:tblGrid>
              <a:tr h="623869">
                <a:tc>
                  <a:txBody>
                    <a:bodyPr/>
                    <a:lstStyle/>
                    <a:p>
                      <a:pPr>
                        <a:buNone/>
                      </a:pPr>
                      <a:r>
                        <a:rPr lang="en-US" sz="1600" b="1" cap="all" spc="150">
                          <a:solidFill>
                            <a:schemeClr val="tx1"/>
                          </a:solidFill>
                        </a:rPr>
                        <a:t>Aspect</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Previous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New Automated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85909542"/>
                  </a:ext>
                </a:extLst>
              </a:tr>
              <a:tr h="623869">
                <a:tc>
                  <a:txBody>
                    <a:bodyPr/>
                    <a:lstStyle/>
                    <a:p>
                      <a:pPr>
                        <a:buNone/>
                      </a:pPr>
                      <a:r>
                        <a:rPr lang="en-US" sz="1600" b="1" cap="none" spc="0">
                          <a:solidFill>
                            <a:schemeClr val="tx1"/>
                          </a:solidFill>
                        </a:rPr>
                        <a:t>Data Management</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Duplicated across PDFs, PPTs, StoryMaps</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Single CSV + Markdown source</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130496093"/>
                  </a:ext>
                </a:extLst>
              </a:tr>
              <a:tr h="623869">
                <a:tc>
                  <a:txBody>
                    <a:bodyPr/>
                    <a:lstStyle/>
                    <a:p>
                      <a:pPr>
                        <a:buNone/>
                      </a:pPr>
                      <a:r>
                        <a:rPr lang="en-US" sz="1600" b="1" cap="none" spc="0">
                          <a:solidFill>
                            <a:schemeClr val="tx1"/>
                          </a:solidFill>
                        </a:rPr>
                        <a:t>Update Workflow</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back-and-forth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Direct edits + automated build</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1194115"/>
                  </a:ext>
                </a:extLst>
              </a:tr>
              <a:tr h="623869">
                <a:tc>
                  <a:txBody>
                    <a:bodyPr/>
                    <a:lstStyle/>
                    <a:p>
                      <a:pPr>
                        <a:buNone/>
                      </a:pPr>
                      <a:r>
                        <a:rPr lang="en-US" sz="1600" b="1" cap="none" spc="0">
                          <a:solidFill>
                            <a:schemeClr val="tx1"/>
                          </a:solidFill>
                        </a:rPr>
                        <a:t>Quality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Inconsistencies across versions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 source of truth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2870908"/>
                  </a:ext>
                </a:extLst>
              </a:tr>
              <a:tr h="368325">
                <a:tc>
                  <a:txBody>
                    <a:bodyPr/>
                    <a:lstStyle/>
                    <a:p>
                      <a:pPr>
                        <a:buNone/>
                      </a:pPr>
                      <a:r>
                        <a:rPr lang="en-US" sz="1600" b="1" cap="none" spc="0">
                          <a:solidFill>
                            <a:schemeClr val="tx1"/>
                          </a:solidFill>
                        </a:rPr>
                        <a:t>Customization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err="1">
                          <a:solidFill>
                            <a:schemeClr val="tx1"/>
                          </a:solidFill>
                        </a:rPr>
                        <a:t>StoryMap</a:t>
                      </a:r>
                      <a:r>
                        <a:rPr lang="en-US" sz="1600" cap="none" spc="0" dirty="0">
                          <a:solidFill>
                            <a:schemeClr val="tx1"/>
                          </a:solidFill>
                        </a:rPr>
                        <a:t> limitations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Full design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577848736"/>
                  </a:ext>
                </a:extLst>
              </a:tr>
              <a:tr h="368325">
                <a:tc>
                  <a:txBody>
                    <a:bodyPr/>
                    <a:lstStyle/>
                    <a:p>
                      <a:pPr>
                        <a:buNone/>
                      </a:pPr>
                      <a:r>
                        <a:rPr lang="en-US" sz="1600" b="1" cap="none" spc="0">
                          <a:solidFill>
                            <a:schemeClr val="tx1"/>
                          </a:solidFill>
                        </a:rPr>
                        <a:t>Scalability</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Single-page limitation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Multi-page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696997766"/>
                  </a:ext>
                </a:extLst>
              </a:tr>
              <a:tr h="368325">
                <a:tc>
                  <a:txBody>
                    <a:bodyPr/>
                    <a:lstStyle/>
                    <a:p>
                      <a:pPr>
                        <a:buNone/>
                      </a:pPr>
                      <a:r>
                        <a:rPr lang="en-US" sz="1600" b="1" cap="none" spc="0">
                          <a:solidFill>
                            <a:schemeClr val="tx1"/>
                          </a:solidFill>
                        </a:rPr>
                        <a:t>Output Formats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PDF creation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a:solidFill>
                            <a:schemeClr val="tx1"/>
                          </a:solidFill>
                        </a:rPr>
                        <a:t>Automated PDFs +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116073627"/>
                  </a:ext>
                </a:extLst>
              </a:tr>
            </a:tbl>
          </a:graphicData>
        </a:graphic>
      </p:graphicFrame>
    </p:spTree>
    <p:extLst>
      <p:ext uri="{BB962C8B-B14F-4D97-AF65-F5344CB8AC3E}">
        <p14:creationId xmlns:p14="http://schemas.microsoft.com/office/powerpoint/2010/main" val="438205441"/>
      </p:ext>
    </p:extLst>
  </p:cSld>
  <p:clrMapOvr>
    <a:masterClrMapping/>
  </p:clrMapOvr>
  <p:transition>
    <p:fade/>
  </p:transition>
</p:sld>
</file>

<file path=ppt/theme/theme1.xml><?xml version="1.0" encoding="utf-8"?>
<a:theme xmlns:a="http://schemas.openxmlformats.org/drawingml/2006/main" name="Office Theme">
  <a:themeElements>
    <a:clrScheme name="TxDOT Template Color Scheme">
      <a:dk1>
        <a:srgbClr val="000000"/>
      </a:dk1>
      <a:lt1>
        <a:srgbClr val="FFFFFF"/>
      </a:lt1>
      <a:dk2>
        <a:srgbClr val="000000"/>
      </a:dk2>
      <a:lt2>
        <a:srgbClr val="EBEBEB"/>
      </a:lt2>
      <a:accent1>
        <a:srgbClr val="0056A9"/>
      </a:accent1>
      <a:accent2>
        <a:srgbClr val="D90D0D"/>
      </a:accent2>
      <a:accent3>
        <a:srgbClr val="196533"/>
      </a:accent3>
      <a:accent4>
        <a:srgbClr val="5F0F40"/>
      </a:accent4>
      <a:accent5>
        <a:srgbClr val="002E69"/>
      </a:accent5>
      <a:accent6>
        <a:srgbClr val="333F48"/>
      </a:accent6>
      <a:hlink>
        <a:srgbClr val="0056A9"/>
      </a:hlink>
      <a:folHlink>
        <a:srgbClr val="5F0F40"/>
      </a:folHlink>
    </a:clrScheme>
    <a:fontScheme name="TxDOT Template fonts">
      <a:majorFont>
        <a:latin typeface="Verdana Bold"/>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xdot-presentation-template2.pptx" id="{D2D5C860-A1B3-4A6C-8149-02A62B73144F}" vid="{EFF924DB-A2C4-48D0-BDFE-99CFC2D22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B5AD2C-D2D8-4161-9D03-0727BC6386EE}">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0DD5F0CFC9474AA5776E0FD5B5E5C6" ma:contentTypeVersion="13" ma:contentTypeDescription="Create a new document." ma:contentTypeScope="" ma:versionID="08b47768fe9cc6acb495570694cf21c4">
  <xsd:schema xmlns:xsd="http://www.w3.org/2001/XMLSchema" xmlns:xs="http://www.w3.org/2001/XMLSchema" xmlns:p="http://schemas.microsoft.com/office/2006/metadata/properties" xmlns:ns2="d944a76f-f1c4-4c35-8718-0da1a89f998d" xmlns:ns3="82049778-1698-4f71-891d-d0468521a2c4" targetNamespace="http://schemas.microsoft.com/office/2006/metadata/properties" ma:root="true" ma:fieldsID="d1c2cf4abb11fc9fcc001b437bb555ff" ns2:_="" ns3:_="">
    <xsd:import namespace="d944a76f-f1c4-4c35-8718-0da1a89f998d"/>
    <xsd:import namespace="82049778-1698-4f71-891d-d0468521a2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44a76f-f1c4-4c35-8718-0da1a89f99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fe284ab-3129-4a4f-a33b-1446679d63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049778-1698-4f71-891d-d0468521a2c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7103a43-51d6-45bf-9f97-dc0f4644a333}" ma:internalName="TaxCatchAll" ma:showField="CatchAllData" ma:web="82049778-1698-4f71-891d-d0468521a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2049778-1698-4f71-891d-d0468521a2c4" xsi:nil="true"/>
    <lcf76f155ced4ddcb4097134ff3c332f xmlns="d944a76f-f1c4-4c35-8718-0da1a89f998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053486-2C31-4E72-A756-50FFDBC0C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44a76f-f1c4-4c35-8718-0da1a89f998d"/>
    <ds:schemaRef ds:uri="82049778-1698-4f71-891d-d0468521a2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054A7F-F305-4642-B91B-FCDEA206227A}">
  <ds:schemaRefs>
    <ds:schemaRef ds:uri="http://schemas.microsoft.com/office/2006/metadata/properties"/>
    <ds:schemaRef ds:uri="http://schemas.microsoft.com/office/infopath/2007/PartnerControls"/>
    <ds:schemaRef ds:uri="82049778-1698-4f71-891d-d0468521a2c4"/>
    <ds:schemaRef ds:uri="d944a76f-f1c4-4c35-8718-0da1a89f998d"/>
  </ds:schemaRefs>
</ds:datastoreItem>
</file>

<file path=customXml/itemProps3.xml><?xml version="1.0" encoding="utf-8"?>
<ds:datastoreItem xmlns:ds="http://schemas.openxmlformats.org/officeDocument/2006/customXml" ds:itemID="{956414F3-91B8-4688-B1CC-69689F320AAB}">
  <ds:schemaRefs>
    <ds:schemaRef ds:uri="http://schemas.microsoft.com/sharepoint/v3/contenttype/forms"/>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txdot-presentation-template 2024</Template>
  <TotalTime>7480</TotalTime>
  <Words>2704</Words>
  <Application>Microsoft Office PowerPoint</Application>
  <PresentationFormat>Custom</PresentationFormat>
  <Paragraphs>95</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Verdana Bold</vt:lpstr>
      <vt:lpstr>Aptos</vt:lpstr>
      <vt:lpstr>Arial</vt:lpstr>
      <vt:lpstr>Barlow Condensed Medium</vt:lpstr>
      <vt:lpstr>Verdana</vt:lpstr>
      <vt:lpstr>Wingdings</vt:lpstr>
      <vt:lpstr>Office Theme</vt:lpstr>
      <vt:lpstr>TASK 1 - Border Crossing Guide</vt:lpstr>
      <vt:lpstr>2026 Texas–Mexico International Border Crossings Guide – Website Development Plan</vt:lpstr>
      <vt:lpstr>Overview of the Website Development Plan</vt:lpstr>
      <vt:lpstr>Core Features of the Website</vt:lpstr>
      <vt:lpstr>Challenges in Data, Layout, and System Integration</vt:lpstr>
      <vt:lpstr>Three‑Tier Strategy for Scalable Content Management</vt:lpstr>
      <vt:lpstr>PowerPoint Presentation</vt:lpstr>
      <vt:lpstr>Website Architecture and User Experience Structure</vt:lpstr>
      <vt:lpstr>Phased Timeline Toward August 2026 Launch</vt:lpstr>
      <vt:lpstr>Comparison of Previous vs. New Automated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and Guidelines</dc:title>
  <dc:creator>Weston, Lisa</dc:creator>
  <cp:lastModifiedBy>Ajith, Adithya</cp:lastModifiedBy>
  <cp:revision>367</cp:revision>
  <cp:lastPrinted>2024-12-18T06:29:40Z</cp:lastPrinted>
  <dcterms:created xsi:type="dcterms:W3CDTF">2024-11-26T19:17:47Z</dcterms:created>
  <dcterms:modified xsi:type="dcterms:W3CDTF">2026-02-15T23:30:32Z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0x010100090DD5F0CFC9474AA5776E0FD5B5E5C6</vt:lpwstr>
  </property>
  <property fmtid="{D5CDD505-2E9C-101B-9397-08002B2CF9AE}" pid="3" name="MediaServiceImageTags">
    <vt:lpwstr/>
  </property>
</Properties>
</file>